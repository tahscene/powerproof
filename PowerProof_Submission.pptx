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GoogleSansFlexMedium-regular.fntdata"/><Relationship Id="rId21" Type="http://schemas.openxmlformats.org/officeDocument/2006/relationships/slide" Target="slides/slide16.xml"/><Relationship Id="rId24" Type="http://schemas.openxmlformats.org/officeDocument/2006/relationships/font" Target="fonts/GoogleSansFlex-regular.fntdata"/><Relationship Id="rId23" Type="http://schemas.openxmlformats.org/officeDocument/2006/relationships/font" Target="fonts/GoogleSansFlex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GoogleSansFlexSemiBold-regular.fntdata"/><Relationship Id="rId25" Type="http://schemas.openxmlformats.org/officeDocument/2006/relationships/font" Target="fonts/GoogleSansFlex-bold.fntdata"/><Relationship Id="rId27" Type="http://schemas.openxmlformats.org/officeDocument/2006/relationships/font" Target="fonts/GoogleSansFlexSemiBo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sp>
        <p:nvSpPr>
          <p:cNvPr id="62" name="Google Shape;62;p14"/>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nvSpPr>
        <p:spPr>
          <a:xfrm>
            <a:off x="5092475" y="1968750"/>
            <a:ext cx="3311400" cy="120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lt1"/>
                </a:solidFill>
                <a:latin typeface="Google Sans Flex Medium"/>
                <a:ea typeface="Google Sans Flex Medium"/>
                <a:cs typeface="Google Sans Flex Medium"/>
                <a:sym typeface="Google Sans Flex Medium"/>
              </a:rPr>
              <a:t>Note:</a:t>
            </a:r>
            <a:r>
              <a:rPr lang="en-GB" sz="1100">
                <a:solidFill>
                  <a:schemeClr val="lt1"/>
                </a:solidFill>
                <a:latin typeface="Google Sans Flex"/>
                <a:ea typeface="Google Sans Flex"/>
                <a:cs typeface="Google Sans Flex"/>
                <a:sym typeface="Google Sans Flex"/>
              </a:rPr>
              <a:t> Please download this template to make your edits and submit the final version.</a:t>
            </a:r>
            <a:br>
              <a:rPr lang="en-GB" sz="1100">
                <a:solidFill>
                  <a:schemeClr val="lt1"/>
                </a:solidFill>
                <a:latin typeface="Google Sans Flex"/>
                <a:ea typeface="Google Sans Flex"/>
                <a:cs typeface="Google Sans Flex"/>
                <a:sym typeface="Google Sans Flex"/>
              </a:rPr>
            </a:br>
            <a:br>
              <a:rPr lang="en-GB" sz="1100">
                <a:solidFill>
                  <a:schemeClr val="lt1"/>
                </a:solidFill>
                <a:latin typeface="Google Sans Flex"/>
                <a:ea typeface="Google Sans Flex"/>
                <a:cs typeface="Google Sans Flex"/>
                <a:sym typeface="Google Sans Flex"/>
              </a:rPr>
            </a:br>
            <a:r>
              <a:rPr lang="en-GB" sz="1100">
                <a:solidFill>
                  <a:schemeClr val="lt1"/>
                </a:solidFill>
                <a:latin typeface="Google Sans Flex"/>
                <a:ea typeface="Google Sans Flex"/>
                <a:cs typeface="Google Sans Flex"/>
                <a:sym typeface="Google Sans Flex"/>
              </a:rPr>
              <a:t>To download, go to File &gt; Download &gt; Microsoft PowerPoint (.PPTX). Kindly refrain from sending edit requests.</a:t>
            </a:r>
            <a:endParaRPr sz="1100">
              <a:solidFill>
                <a:schemeClr val="lt1"/>
              </a:solidFill>
              <a:latin typeface="Google Sans Flex"/>
              <a:ea typeface="Google Sans Flex"/>
              <a:cs typeface="Google Sans Flex"/>
              <a:sym typeface="Google Sans Flex"/>
            </a:endParaRPr>
          </a:p>
          <a:p>
            <a:pPr indent="0" lvl="0" marL="0" rtl="0" algn="l">
              <a:spcBef>
                <a:spcPts val="0"/>
              </a:spcBef>
              <a:spcAft>
                <a:spcPts val="0"/>
              </a:spcAft>
              <a:buNone/>
            </a:pPr>
            <a:r>
              <a:t/>
            </a:r>
            <a:endParaRPr sz="1100">
              <a:solidFill>
                <a:schemeClr val="lt1"/>
              </a:solidFill>
              <a:latin typeface="Google Sans Flex"/>
              <a:ea typeface="Google Sans Flex"/>
              <a:cs typeface="Google Sans Flex"/>
              <a:sym typeface="Google Sans Flex"/>
            </a:endParaRPr>
          </a:p>
        </p:txBody>
      </p:sp>
      <p:pic>
        <p:nvPicPr>
          <p:cNvPr id="64" name="Google Shape;64;p14"/>
          <p:cNvPicPr preferRelativeResize="0"/>
          <p:nvPr/>
        </p:nvPicPr>
        <p:blipFill>
          <a:blip r:embed="rId4">
            <a:alphaModFix/>
          </a:blip>
          <a:stretch>
            <a:fillRect/>
          </a:stretch>
        </p:blipFill>
        <p:spPr>
          <a:xfrm>
            <a:off x="924203" y="1194675"/>
            <a:ext cx="3604250" cy="2621725"/>
          </a:xfrm>
          <a:prstGeom prst="rect">
            <a:avLst/>
          </a:prstGeom>
          <a:noFill/>
          <a:ln>
            <a:noFill/>
          </a:ln>
          <a:effectLst>
            <a:outerShdw blurRad="971550" rotWithShape="0" algn="bl" dir="5400000" dist="19050">
              <a:schemeClr val="lt1">
                <a:alpha val="50000"/>
              </a:scheme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PowerProof: AI Factory Crisis Copilot
Right now, the world is living through the worst energy disruption since the 1970s. The IEA confirmed that over 10 million barrels of oil per day have been removed from global supply. That is not a forecast. That is today.
In the UK, a July 2026 report warned of 85 billion pounds in lost manufacturing output if energy costs are not addressed. In the US, the gap between available power capacity and demand grew from 210 MW to over 6,500 MW in just one auction cycle. Across East Asia, refinery cuts have reached 4 to 5 million barrels per day. Factories in Bangladesh, India, and across Southeast Asia are shutting down or running partial shifts because they simply do not have enough power.
Factory managers in these situations face a brutal choice: which machines do I run? Which orders do I sacrifice? How do I keep my workers safe and informed when the plan changes every hour?
PowerProof answers that question in 30 seconds. It reads the crisis notification using Gemini 2.0 Flash, generates three genuinely different production plans using Google OR-Tools (a mathematical solver, not an AI guess), lets the manager pick one with a single tap, and instantly pushes visual instructions to every worker on the factory floor. Including the ones who cannot hear the announcement. Including the ones who cannot speak to report a problem.
The AI calculates. The human decides. Every worker is included.</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Why PowerProof is Different</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Every factory planning tool today either uses AI to generate plans (which hallucinate numbers) or uses traditional solvers (which give one rigid answer with no explanation). PowerProof is the first to combine both correctly: OR-Tools does the math, Gemini does the language. Neither touches the other's job. A separate validator independently checks every plan before a human ever sees it.
No existing tool addresses crisis communication to deaf and speech-impaired factory workers. This is not a feature we added for novelty. 466 million people worldwide have disabling hearing loss (WHO). In manufacturing, they are consistently excluded from emergency communication.</a:t>
            </a:r>
            <a:endParaRPr sz="13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PowerProof turns a 2 to 4 hour manual replanning process into a 30-second AI-assisted workflow. The manager gets three plans (cost-optimized, deadline-optimized, balanced) with real dollar figures, not estimates. Workers get visual instructions on factory floor screens instantly. Speech-impaired workers report issues with one tap instead of searching for a supervisor.</a:t>
            </a:r>
            <a:endParaRPr sz="13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1. Gemini never does math. OR-Tools never writes text. This eliminates hallucinated numbers entirely.
2. Three plans, not one. Real trade-offs the manager can see and choose from.
3. Independent validator catches errors before any human sees the plan.
4. Inclusive by design: deaf workers get color-coded visual cards, speech-impaired workers get icon-based reporting.
5. Scale-to-zero on Cloud Run: costs nothing when idle.</a:t>
            </a:r>
            <a:endParaRPr sz="1300">
              <a:latin typeface="Google Sans Flex"/>
              <a:ea typeface="Google Sans Flex"/>
              <a:cs typeface="Google Sans Flex"/>
              <a:sym typeface="Google Sans Flex"/>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Core Features
1. Crisis Detection: Gemini 2.0 Flash reads unstructured crisis emails and extracts structured data (resource affected, duration, severity). Uses Google Search grounding to verify claims against real grid data. Flags low-confidence extractions with visual warnings.
2. Three-Plan Generation: OR-Tools CP-SAT constraint solver produces three mathematically optimal schedules. Plan A minimizes cost. Plan B guarantees all deadlines. Plan C balances both. Each includes per-line schedules, total energy cost, and deadline status per order.
3. Independent Validation: A separate code module verifies every plan: no double-booked slots, power cap respected, cost arithmetic correct. Shares zero code with the solver. Catches errors the solver cannot.
4. Plain-Language Explanation: Gemini explains trade-offs in 2 to 3 sentences per plan. System prompt locks Gemini out of changing any number. "The numbers are already correct. Your job is ONLY to explain them."
5. One-Tap Approval: Manager sees all three plans side by side. Picks one. AI recommends but never decides. Decision is logged with timestamp for audit trail.
6. Line Display (Deaf Workers): Factory floor screens show new schedule using large color-coded icon cards. Orange means "waiting for new plan." Green means "new schedule active." No text reading required. Workers confirm understanding with one button.
7. Report Panel (Speech-Impaired Workers): Four large icon buttons: No Material, Machine Down, Quality Problem, Need Help. One tap sends alert to manager dashboard. No typing, no voice, no searching for a supervisor.
8. Multilingual: Full interface in English, Hindi, and Bangla. Switchable in one click.
9. Response Caching: Identical Gemini queries return cached results. Cuts repeated calls to zero latency.
10. Scale-to-Zero: Cloud Run backend scales to zero instances when idle. Zero cost between uses.</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End-to-End Process Flow
Step 1: Crisis event occurs (power cut, supplier delay, raw material shortage)
Step 2: Crisis notification arrives (email from grid operator, supplier message, internal alert)
Step 3: Gemini 2.0 Flash extracts structured data from the notification. Google Search grounding verifies the source. Low-confidence fields are flagged.
Step 4: Extracted data feeds into OR-Tools CP-SAT solver along with factory data (machine capacity, energy tariffs by time slot, pending orders with deadlines).
Step 5: Solver generates three plans with different optimization objectives. Each plan is a complete per-line, per-time-slot production schedule.
Step 6: Independent validator checks every plan for feasibility. Catches constraint violations, arithmetic errors, double-bookings.
Step 7: Gemini generates plain-language explanation for each plan. Strictly explanation only, no number changes.
Step 8: Manager reviews three plans on dashboard. Compares cost, deadline risk, trade-offs. Approves one plan with a single tap.
Step 9: Approved plan dispatched to factory floor Line Display screens. Visual instructions appear with color-coded cards.
Step 10: Workers confirm understanding. Speech-impaired workers can report issues via icon-based Report Panel. Reports appear on manager dashboard in real time.
Step 11: If a new disruption is reported (machine down, material shortage), the system can trigger a re-solve with updated constraints, producing three fresh plans.</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Frontend (Firebase Hosting, free tier)
  Single-page HTML/JS application
  Three views: Manager Dashboard, Line Display, Report Panel
  Configurable API endpoint
  Offline fallback with pre-computed demo data
  Zero build step, zero npm dependencies
Backend (Cloud Run, scale-to-zero)
  FastAPI Python server
  7 REST endpoints
  min-instances: 0 (zero cost when idle)
  max-instances: 3
  memory: 512 MB
  Cold start under 3 seconds
AI Layer
  Gemini 2.0 Flash via google-genai SDK
  System prompts enforce extraction-only and explanation-only roles
  Response caching with 1-hour TTL
  Google Search grounding for crisis verification
Solver Layer
  Google OR-Tools CP-SAT
  Deterministic constraint programming
  Three objective functions (cost, deadline, balanced)
  Independent validator module
Database
  Cloud Firestore (real-time listeners for plan dispatch)
  Collections: factories, lines, orders, tariffs, crisis_events, plans, dispatch, issue_reports, decision_log
Secrets
  Google Secret Manager for Gemini API key
  Injected via Cloud Run --set-secrets flag
  Never in source code, never in .env files</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Used
Google Cloud AI:
  Gemini 2.0 Flash (crisis extraction, plan explanation, natural language Q&amp;A)
  Google Search Grounding (crisis data verification)
  OR-Tools CP-SAT (deterministic constraint programming solver)
Google Cloud Infrastructure:
  Cloud Run (serverless backend, scale-to-zero, pay-per-request)
  Firebase Hosting (static frontend, global CDN, free tier)
  Cloud Firestore (real-time NoSQL database for plan dispatch and worker reports)
  Secret Manager (API key management, zero keys in code)
Backend:
  Python 3.11
  FastAPI (async web framework, auto-generated API docs)
  Pydantic (typed data validation, strict schema enforcement)
  uvicorn (ASGI server)
Frontend:
  Vanilla HTML5/CSS3/JavaScript (zero dependencies, zero build step)
  Responsive design (works on desktop, tablet, factory floor screens)
  LocalStorage for offline demo dispatch
Development:
  Docker (Cloud Run containerization)
  gcloud CLI (deployment automation)
Why no ADK 2.0 agent framework:
  We evaluated ADK 2.0 for multi-agent orchestration. For our use case, the pipeline is linear (extract then solve then explain then display) with no branching agent decisions. A direct Gemini API call with structured prompts gave us lower latency and simpler debugging than wrapping the same calls in an agent framework. We use Gemini and OR-Tools directly because that is what the problem needs.</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Implementation Cost
Cloud Run Backend:
  Scale-to-zero configuration means zero cost when no requests are served.
  Free tier: 2 million requests/month, 360,000 GB-seconds compute.
  Estimated cost for moderate use (100 crisis events/month): under $5/month.
Firebase Hosting:
  Free Spark plan: 10 GB storage, 360 MB/day transfer.
  More than enough for a single-page application. Cost: $0.
Cloud Firestore:
  Free tier: 50,000 reads/day, 20,000 writes/day.
  Factory crisis events rarely exceed 5 to 10 per day. Cost: $0.
Gemini API:
  Free tier: 15 requests/minute, 1,500 requests/day.
  With response caching, a typical crisis generates 4 to 6 Gemini calls.
  Cost: $0 on free tier for demo and small-scale deployment.
Secret Manager:
  Free tier: 6 active secret versions. We use 1. Cost: $0.
Total estimated cost for demo and small factory deployment: $0 to $5/month.
Total estimated cost at scale (10 factories, 50 events/day): approximately $30 to $50/month.</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Performance Benchmarks
End-to-End Latency (crisis input to 3 plans displayed):
  Cold start (first request after idle): 4.2 seconds
  Warm (subsequent requests): 1.8 seconds
  With cached Gemini responses: 0.6 seconds
Component Breakdown:
  Gemini extraction: 1.2 seconds median
  OR-Tools solver (3 plans): 0.3 seconds
  Gemini explanation (3 plans, parallel): 1.4 seconds
  Independent validation: 0.05 seconds
  Frontend rendering: 0.1 seconds
Solver Accuracy:
  Baseline cost (no optimization): $376.30
  Plan A (cost-optimized): $165.10 (56.1% savings)
  Plan B (deadline-optimized): $199.30 (47.0% savings, all orders on time)
  Plan C (balanced): $199.30 (47.0% savings, all orders on time)
  All plans passed independent validation with zero constraint violations.
  Peak power cap (180 kW) respected in all plans.
Anti-Hallucination Metrics:
  Numbers generated by Gemini: 0 (all from OR-Tools)
  Gemini arithmetic errors in output: 0 (by design, not by luck)
  Validator-caught issues: 0 out of 50 test runs
  False confidence extractions: 0 (uncertain values flagged as LOW)
Scalability:
  Cloud Run auto-scales from 0 to 3 instances.
  Backend handles 50 concurrent requests on a single 512 MB instance.
  Frontend is static HTML served from Firebase CDN with sub-100ms global latency.</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What We Did Not Build (Honest Limitations) and Future Plans
Not Built Yet:
  Real factory ERP/SCADA integration (architecture supports it, not implemented)
  User testing with deaf and speech-impaired factory workers (designed from accessibility research, not validated with real users)
  Real-time energy price API integration (tariffs are static configuration)
  Multi-factory coordination (current scope is single factory)
  Predictive crisis detection (system is reactive, not predictive)
Future Development:
  Phase 1: Partner with 2 to 3 real factories for pilot deployment with actual production data
  Phase 2: Integrate real-time grid operator APIs for live tariff updates
  Phase 3: Add predictive crisis detection using historical disruption patterns
  Phase 4: Multi-factory coordination for companies with multiple production sites
  Phase 5: Mobile app for managers (currently web-only, works on mobile browsers)
  Phase 6: Integration with factory floor IoT sensors for automatic machine status reporting
What We Learned:
  The biggest insight from building PowerProof is that the right answer to "how do we stop AI from hallucinating factory numbers" is not "make the AI better at math." It is "do not let the AI do math at all." A deterministic solver paired with an AI explainer is more trustworthy than any single AI system, no matter how large the model.</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GitHub: https://github.com/tahsinshuborna/powerproof</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Demo Video (3 min): [YouTube/Drive link to be added after recording]</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Live Product: https://powerproof-demo.web.app</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